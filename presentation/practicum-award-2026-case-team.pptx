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adviser.ru/index.php/&#1057;&#1090;&#1072;&#1090;&#1100;&#1103;:&#1050;&#1086;&#1085;&#1089;&#1072;&#1083;&#1090;&#1080;&#1085;&#1075;_(&#1088;&#1099;&#1085;&#1086;&#1082;_&#1056;&#1086;&#1089;&#1089;&#1080;&#1080;)" TargetMode="External"/><Relationship Id="rId3" Type="http://schemas.openxmlformats.org/officeDocument/2006/relationships/hyperlink" Target="https://raex-rr.com/b2b/consulting/consulting_strategic_planning_and_organizational_development/2025/analytics/" TargetMode="External"/><Relationship Id="rId4" Type="http://schemas.openxmlformats.org/officeDocument/2006/relationships/hyperlink" Target="https://raex-rr.com/b2b/consulting/biggest_consulting_companies_and_groups/2025/" TargetMode="External"/><Relationship Id="rId5" Type="http://schemas.openxmlformats.org/officeDocument/2006/relationships/hyperlink" Target="https://trends.rbc.ru/trends/social/67c0c6279a7947193f435524" TargetMode="External"/><Relationship Id="rId6" Type="http://schemas.openxmlformats.org/officeDocument/2006/relationships/hyperlink" Target="https://daily.hse.ru/post/novye-igroki-rynki-perspektivy-kak-vyglyadit-rynok-upravlencheskogo-konsaltinga-v-2023-godu" TargetMode="External"/><Relationship Id="rId7" Type="http://schemas.openxmlformats.org/officeDocument/2006/relationships/hyperlink" Target="https://fless.pro/big3-in-russia-after-2022-sbs-consulting" TargetMode="External"/><Relationship Id="rId8" Type="http://schemas.openxmlformats.org/officeDocument/2006/relationships/hyperlink" Target="https://www.tadviser.ru/index.php/&#1050;&#1086;&#1084;&#1087;&#1072;&#1085;&#1080;&#1103;:&#1071;&#1082;&#1086;&#1074;_&#1080;_&#1055;&#1072;&#1088;&#1090;&#1085;&#1105;&#1088;&#1099;_(YnP,_&#1088;&#1072;&#1085;&#1077;&#1077;_McKinsey_&#1074;_&#1056;&#1086;&#1089;&#1089;&#1080;&#1080;)" TargetMode="External"/><Relationship Id="rId9" Type="http://schemas.openxmlformats.org/officeDocument/2006/relationships/hyperlink" Target="https://kskgroup.ru/services/consulting/strategicheskiy-konsalting/" TargetMode="External"/><Relationship Id="rId10" Type="http://schemas.openxmlformats.org/officeDocument/2006/relationships/hyperlink" Target="https://profi.ru/buhgaltery_i_yuristy/strategicheskii-konsalting/price/" TargetMode="External"/><Relationship Id="rId11" Type="http://schemas.openxmlformats.org/officeDocument/2006/relationships/hyperlink" Target="https://www.vedomosti.ru/economics/articles/2025/12/25/1166484-chislo-subektov-msp-uvelichilos" TargetMode="External"/><Relationship Id="rId12" Type="http://schemas.openxmlformats.org/officeDocument/2006/relationships/hyperlink" Target="https://rmsp.nalog.ru/" TargetMode="External"/><Relationship Id="rId13" Type="http://schemas.openxmlformats.org/officeDocument/2006/relationships/hyperlink" Target="https://xn--90aifddrld7a.xn--p1ai/news/country/chislennost-msp-v-rossii-obnovila-istoricheskiy-maksimum-i-prevysila-6-8-mln-predpriyatiy/" TargetMode="External"/><Relationship Id="rId14" Type="http://schemas.openxmlformats.org/officeDocument/2006/relationships/hyperlink" Target="https://www.garant.ru/news/1964227/" TargetMode="External"/><Relationship Id="rId15" Type="http://schemas.openxmlformats.org/officeDocument/2006/relationships/hyperlink" Target="https://dreamjob.ru/salary/starshiy-konsultant" TargetMode="External"/><Relationship Id="rId16" Type="http://schemas.openxmlformats.org/officeDocument/2006/relationships/hyperlink" Target="https://fless.pro/consulting-salaries-ru" TargetMode="External"/><Relationship Id="rId17" Type="http://schemas.openxmlformats.org/officeDocument/2006/relationships/hyperlink" Target="https://vc.ru/hr/520245-strategicheskii-konsalting-na-blizhnem-vostoke-zarplaty-ot-120-tysyach-fantasticheskie-goroda-v-pustyne-i-metavselennaya" TargetMode="External"/><Relationship Id="rId18" Type="http://schemas.openxmlformats.org/officeDocument/2006/relationships/hyperlink" Target="https://moskva.gorodrabot.ru/salaries/konsultant" TargetMode="External"/><Relationship Id="rId19" Type="http://schemas.openxmlformats.org/officeDocument/2006/relationships/hyperlink" Target="https://lidopad.online/news/skolko-realno-zarabatyvayut-frilansery-v-rossii-statistika-i-prognoz-na-2026/" TargetMode="External"/><Relationship Id="rId20" Type="http://schemas.openxmlformats.org/officeDocument/2006/relationships/hyperlink" Target="https://www.gartner.com/en/newsroom/press-releases/2025-08-26-gartner-predicts-40-percent-of-enterprise-apps-will-feature-task-specific-ai-agents-by-2026-up-from-less-than-5-percent-in-2025" TargetMode="External"/><Relationship Id="rId21" Type="http://schemas.openxmlformats.org/officeDocument/2006/relationships/hyperlink" Target="https://www.mckinsey.com/mgi/media-center/ai-could-increase-corporate-profits-by-4-trillion-a-year-according-to-new-research" TargetMode="External"/><Relationship Id="rId22" Type="http://schemas.openxmlformats.org/officeDocument/2006/relationships/hyperlink" Target="https://www.mckinsey.com/capabilities/quantumblack/our-insights/the-state-of-ai" TargetMode="External"/><Relationship Id="rId23" Type="http://schemas.openxmlformats.org/officeDocument/2006/relationships/hyperlink" Target="https://www.mckinsey.com/capabilities/tech-and-ai/our-insights/the-economic-potential-of-generative-ai-the-next-productivity-frontier" TargetMode="External"/><Relationship Id="rId24" Type="http://schemas.openxmlformats.org/officeDocument/2006/relationships/hyperlink" Target="https://www.marketsandmarkets.com/Market-Reports/ai-agents-market-15761548.html" TargetMode="External"/><Relationship Id="rId25" Type="http://schemas.openxmlformats.org/officeDocument/2006/relationships/hyperlink" Target="https://paul-okhrem.com/enterprise-ai-agents-statistics-2026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oget.com/ai-agent-adoption-in-2026-what-the-analysts-data-shows/" TargetMode="External"/><Relationship Id="rId3" Type="http://schemas.openxmlformats.org/officeDocument/2006/relationships/hyperlink" Target="https://a16z.com/ai-enterprise-2025/" TargetMode="External"/><Relationship Id="rId4" Type="http://schemas.openxmlformats.org/officeDocument/2006/relationships/hyperlink" Target="https://a16z.com/where-enterprises-are-actually-adopting-ai/" TargetMode="External"/><Relationship Id="rId5" Type="http://schemas.openxmlformats.org/officeDocument/2006/relationships/hyperlink" Target="https://felloai.com/manus-ai-pricing/" TargetMode="External"/><Relationship Id="rId6" Type="http://schemas.openxmlformats.org/officeDocument/2006/relationships/hyperlink" Target="https://www.riotimesonline.com/manus-a-i-review-14-failures-in-two-weeks-of-testing/" TargetMode="External"/><Relationship Id="rId7" Type="http://schemas.openxmlformats.org/officeDocument/2006/relationships/hyperlink" Target="https://trickle.so/blog/manus-ai-review" TargetMode="External"/><Relationship Id="rId8" Type="http://schemas.openxmlformats.org/officeDocument/2006/relationships/hyperlink" Target="https://www.trustpilot.com/review/manus-ai.sbs" TargetMode="External"/><Relationship Id="rId9" Type="http://schemas.openxmlformats.org/officeDocument/2006/relationships/hyperlink" Target="https://www.lindy.ai/pricing" TargetMode="External"/><Relationship Id="rId10" Type="http://schemas.openxmlformats.org/officeDocument/2006/relationships/hyperlink" Target="https://www.cloudtalk.io/blog/lindy-ai-pricing/" TargetMode="External"/><Relationship Id="rId11" Type="http://schemas.openxmlformats.org/officeDocument/2006/relationships/hyperlink" Target="https://crewai.com/pricing" TargetMode="External"/><Relationship Id="rId12" Type="http://schemas.openxmlformats.org/officeDocument/2006/relationships/hyperlink" Target="https://www.zenml.io/blog/crewai-pricing" TargetMode="External"/><Relationship Id="rId13" Type="http://schemas.openxmlformats.org/officeDocument/2006/relationships/hyperlink" Target="https://www.microsoft.com/en-us/research/articles/magentic-one-a-generalist-multi-agent-system-for-solving-complex-tasks/" TargetMode="External"/><Relationship Id="rId14" Type="http://schemas.openxmlformats.org/officeDocument/2006/relationships/hyperlink" Target="https://winbuzzer.com/2025/01/14/microsoft-releases-autogen-0-4-with-magentic-one-multi-ai-agent-framework-xcxwbn/" TargetMode="External"/><Relationship Id="rId15" Type="http://schemas.openxmlformats.org/officeDocument/2006/relationships/hyperlink" Target="https://devin.ai/pricing/" TargetMode="External"/><Relationship Id="rId16" Type="http://schemas.openxmlformats.org/officeDocument/2006/relationships/hyperlink" Target="https://venturebeat.com/programming-development/devin-2-0-is-here-cognition-slashes-price-of-ai-software-engineer-to-20-per-month-from-500" TargetMode="External"/><Relationship Id="rId17" Type="http://schemas.openxmlformats.org/officeDocument/2006/relationships/hyperlink" Target="https://www.openaitoolshub.org/en/blog/devin-ai-review" TargetMode="External"/><Relationship Id="rId18" Type="http://schemas.openxmlformats.org/officeDocument/2006/relationships/hyperlink" Target="https://www.sitepoint.com/devin-ai-engineers-production-realities/" TargetMode="External"/><Relationship Id="rId19" Type="http://schemas.openxmlformats.org/officeDocument/2006/relationships/hyperlink" Target="https://habr.com/ru/companies/sberbank/news/1005990/" TargetMode="External"/><Relationship Id="rId20" Type="http://schemas.openxmlformats.org/officeDocument/2006/relationships/hyperlink" Target="https://vc.ru/typespace/2769088-sber-gigachat-enterprise-platforma-dlya-ii-agentov" TargetMode="External"/><Relationship Id="rId21" Type="http://schemas.openxmlformats.org/officeDocument/2006/relationships/hyperlink" Target="https://b2b.giga.chat/multi-agent-system" TargetMode="External"/><Relationship Id="rId22" Type="http://schemas.openxmlformats.org/officeDocument/2006/relationships/hyperlink" Target="https://aistudio.yandex.ru/ru" TargetMode="External"/><Relationship Id="rId23" Type="http://schemas.openxmlformats.org/officeDocument/2006/relationships/hyperlink" Target="https://yandex.ru/company/news/03-03-2026-01" TargetMode="External"/><Relationship Id="rId24" Type="http://schemas.openxmlformats.org/officeDocument/2006/relationships/hyperlink" Target="https://habr.com/ru/amp/publications/1009872/" TargetMode="External"/><Relationship Id="rId25" Type="http://schemas.openxmlformats.org/officeDocument/2006/relationships/hyperlink" Target="https://agentplatform.just-ai.com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-ai.com/blog/sravnenie-rossijskih-platform-dlya-sozdaniya-ai-agentov" TargetMode="External"/><Relationship Id="rId3" Type="http://schemas.openxmlformats.org/officeDocument/2006/relationships/hyperlink" Target="https://claude.com/claude-for-powerpoint" TargetMode="External"/><Relationship Id="rId4" Type="http://schemas.openxmlformats.org/officeDocument/2006/relationships/hyperlink" Target="https://www.prezent.ai/blog/claude-for-powerpoint" TargetMode="External"/><Relationship Id="rId5" Type="http://schemas.openxmlformats.org/officeDocument/2006/relationships/hyperlink" Target="https://www.mindstudio.ai/blog/gamma-vs-chatgpt-vs-claude-vs-google-slides-ai-presentation-tool-comparison" TargetMode="External"/><Relationship Id="rId6" Type="http://schemas.openxmlformats.org/officeDocument/2006/relationships/hyperlink" Target="https://slidespeak.co/blog/create-presentations-claude-design" TargetMode="External"/><Relationship Id="rId7" Type="http://schemas.openxmlformats.org/officeDocument/2006/relationships/hyperlink" Target="https://www.klarna.com/international/press/klarna-ai-assistant-handles-two-thirds-of-customer-service-chats-in-its-first-month/" TargetMode="External"/><Relationship Id="rId8" Type="http://schemas.openxmlformats.org/officeDocument/2006/relationships/hyperlink" Target="https://openai.com/index/klarna/" TargetMode="External"/><Relationship Id="rId9" Type="http://schemas.openxmlformats.org/officeDocument/2006/relationships/hyperlink" Target="https://www.customerexperiencedive.com/news/klarna-ai-slash-customer-service-costs/748647/" TargetMode="External"/><Relationship Id="rId10" Type="http://schemas.openxmlformats.org/officeDocument/2006/relationships/hyperlink" Target="https://www.twig.so/blog/how-klarna-is-revolutionizing-customer-support-with-ai" TargetMode="External"/><Relationship Id="rId11" Type="http://schemas.openxmlformats.org/officeDocument/2006/relationships/hyperlink" Target="https://github.blog/news-insights/research/research-quantifying-github-copilots-impact-on-developer-productivity-and-happiness/" TargetMode="External"/><Relationship Id="rId12" Type="http://schemas.openxmlformats.org/officeDocument/2006/relationships/hyperlink" Target="https://arxiv.org/abs/2302.06590" TargetMode="External"/><Relationship Id="rId13" Type="http://schemas.openxmlformats.org/officeDocument/2006/relationships/hyperlink" Target="https://www.anthropic.com/research/how-ai-is-transforming-work-at-anthropic" TargetMode="External"/><Relationship Id="rId14" Type="http://schemas.openxmlformats.org/officeDocument/2006/relationships/hyperlink" Target="https://www.anthropic.com/research/estimating-productivity-gains" TargetMode="External"/><Relationship Id="rId15" Type="http://schemas.openxmlformats.org/officeDocument/2006/relationships/hyperlink" Target="https://www.hubinternational.com/media-center/press-releases/2026/02/hub-international-brings-anthropics-claude-to-20000-employees/" TargetMode="External"/><Relationship Id="rId16" Type="http://schemas.openxmlformats.org/officeDocument/2006/relationships/hyperlink" Target="https://platform.claude.com/docs/en/about-claude/pricing" TargetMode="External"/><Relationship Id="rId17" Type="http://schemas.openxmlformats.org/officeDocument/2006/relationships/hyperlink" Target="https://www.finout.io/blog/anthropic-api-pricing" TargetMode="External"/><Relationship Id="rId18" Type="http://schemas.openxmlformats.org/officeDocument/2006/relationships/hyperlink" Target="https://www.cbr.ru/" TargetMode="External"/><Relationship Id="rId19" Type="http://schemas.openxmlformats.org/officeDocument/2006/relationships/hyperlink" Target="https://finance.mail.ru/article/oficialnyj-kurs-dollara-na-14-maya-2026-69208634/" TargetMode="External"/><Relationship Id="rId20" Type="http://schemas.openxmlformats.org/officeDocument/2006/relationships/hyperlink" Target="https://zamesin.ru/" TargetMode="External"/><Relationship Id="rId21" Type="http://schemas.openxmlformats.org/officeDocument/2006/relationships/hyperlink" Target="https://www.amazon.com/Competing-Against-Luck-Innovation-Customer/dp/0062435612" TargetMode="External"/><Relationship Id="rId22" Type="http://schemas.openxmlformats.org/officeDocument/2006/relationships/hyperlink" Target="https://www.strategyzer.com/library/value-proposition-design" TargetMode="External"/><Relationship Id="rId23" Type="http://schemas.openxmlformats.org/officeDocument/2006/relationships/hyperlink" Target="https://claude.com" TargetMode="External"/><Relationship Id="rId24" Type="http://schemas.openxmlformats.org/officeDocument/2006/relationships/hyperlink" Target="https://practicum.yandex.ru/practicum-awar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/blob/main/solution/analyst/jobs-and-segments-analysis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/blob/main/solution/analyst/practicum-award-context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/blob/main/solution/financier/unit-economics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uprrllys/case-tea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94360" cy="164592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Display"/>
                <a:ea typeface="YS Display"/>
              </a:rPr>
              <a:t>PRACTICUM AWARD 2026  ·  ТЕХНО-ПРОДУКТОВЫЙ ВКЛАД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YS Display"/>
                <a:ea typeface="YS Display"/>
              </a:rPr>
              <a:t>Альтернатива стратегическому консалтингу через мультиагентную AI-команду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BCE07"/>
                </a:solidFill>
                <a:latin typeface="YS Text"/>
                <a:ea typeface="YS Text"/>
              </a:rPr>
              <a:t>Полный пакет материалов под защиту — за 4 часа, в стоимости подписки на нейросеть.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147" y="5212080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CE07"/>
                </a:solidFill>
                <a:latin typeface="YS Display"/>
                <a:ea typeface="YS Display"/>
              </a:rPr>
              <a:t>4 часа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147" y="5760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вместо 5-6 дней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9907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9907" y="5212080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CE07"/>
                </a:solidFill>
                <a:latin typeface="YS Display"/>
                <a:ea typeface="YS Display"/>
              </a:rPr>
              <a:t>11 тыс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9907" y="5760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vs 99 тыс ₽ in-house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507492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5212080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BCE07"/>
                </a:solidFill>
                <a:latin typeface="YS Display"/>
                <a:ea typeface="YS Display"/>
              </a:rPr>
              <a:t>84-98%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576072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экономии (sensitivity ±20%)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9C9C9"/>
                </a:solidFill>
                <a:latin typeface="YS Text"/>
                <a:ea typeface="YS Text"/>
              </a:rPr>
              <a:t>Сергей Леонтьев  ·  Product Manager, Нинтегра  ·  МАИ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Готовим полный пакет материалов решения бизнес-кейса под защиту — за стоимость подписки на нейросеть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За 4 часа вместо 5-6 дней, без дополнительной оплаты для пользователей Claude, с воспроизводимой методологией.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80360"/>
            <a:ext cx="91440" cy="169164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449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АНАЛИЗ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8328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266 тыс компаний МСП в РФ принимают стратегические решения 2-6 раз в год; 5 текущих способов не дают сшитого пакета под защиту.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880360"/>
            <a:ext cx="91440" cy="169164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4495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КОНЦЕПЦИЯ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5 Claude-агентов готовят презентации, финмодели, аналитику и позиционирование. Решение go/no-go и защита перед людьми остаются за человеком.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75488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54880"/>
            <a:ext cx="91440" cy="169164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194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РЕАЛИЗАЦИЯ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5 ролей · обучены на решениях для Axenix (Cup Moscow 2024) и Askona (Inno Case Hack 2025) · 26 методологических логик — </a:t>
            </a:r>
            <a:r>
              <a:rPr sz="13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открытый репозиторий</a:t>
            </a: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5488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754880"/>
            <a:ext cx="91440" cy="169164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194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ЭФФЕКТ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5120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4 часа вместо 5-6 дней · в стоимости подписки на нейросеть · устойчиво 84-98% экономии при ±20% к параметрам.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266 тыс компаний МСП в РФ принимают стратегические решения 2-6 раз в год — и каждый раз должны защитить их перед инвестором, советом или партнёром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Из 9 проанализированных альтернатив ни одна не даёт сшитого пакета (research + стратегия + финмодель + презентация) под одной методологической логикой.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3464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443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YS Display"/>
                <a:ea typeface="YS Display"/>
              </a:rPr>
              <a:t>266 тыс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3814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компаний МСП в РФ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4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873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YS Display"/>
                <a:ea typeface="YS Display"/>
              </a:rPr>
              <a:t>2-6 раз / год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8114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принимают крупное стратегическое решение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120640"/>
            <a:ext cx="4023360" cy="10058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30368"/>
            <a:ext cx="3566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00000"/>
                </a:solidFill>
                <a:latin typeface="YS Display"/>
                <a:ea typeface="YS Display"/>
              </a:rPr>
              <a:t>18-80 млрд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2414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недополученного спроса в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83464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ЧТО КЛИЕНТ НАНИМАЕТ СЕЙЧАС  ·  ПОЧЕМУ НЕ ПОДХОДИТ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21868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YS Display"/>
                <a:ea typeface="YS Display"/>
              </a:rPr>
              <a:t>Альтернатива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2186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YS Display"/>
                <a:ea typeface="YS Display"/>
              </a:rPr>
              <a:t>Стоимость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2186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66666"/>
                </a:solidFill>
                <a:latin typeface="YS Display"/>
                <a:ea typeface="YS Display"/>
              </a:rPr>
              <a:t>Главный минус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538728"/>
            <a:ext cx="6949440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363931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Делать самому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63931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5-6 дней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63931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нет компетенций в 5 ролях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4087368"/>
            <a:ext cx="6949440" cy="63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0" y="414223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In-house команда из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414223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99k + 700k/мес ФОТ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14223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неподъёмно для МСП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4590288"/>
            <a:ext cx="6949440" cy="63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464515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Big4-tier агентство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64515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350k — 1.5M 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64515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цена за репутацию партнёра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5093208"/>
            <a:ext cx="6949440" cy="63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514807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Фрилансеры с биржи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1480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50-150k 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514807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никто не сшивает в историю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5596128"/>
            <a:ext cx="6949440" cy="63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565099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ChatGPT / один AI-чат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65099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подписка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0" y="5650992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текст, не пакет; нет формул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6099048"/>
            <a:ext cx="6949440" cy="635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94360" cy="146304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Display"/>
                <a:ea typeface="YS Display"/>
              </a:rPr>
              <a:t>КОНЦЕПЦИЯ  ·  АРХИТЕКТУРНЫЕ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2471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FFFFFF"/>
                </a:solidFill>
                <a:latin typeface="YS Display"/>
                <a:ea typeface="YS Display"/>
              </a:rPr>
              <a:t>5 Claude-агентов готовят полный пакет — а решение и защита остаются за человеком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CCCCCC"/>
                </a:solidFill>
                <a:latin typeface="YS Text"/>
                <a:ea typeface="YS Text"/>
              </a:rPr>
              <a:t>Куратор смысла внутри команды + физические артефакты на выходе + дотренировка на двух реальных кейс-чемпионатах — этого нет ни у одного из 9 проанализированных конкурентов.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3832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ЧТО МЫ ДЕЛАЕМ ПОЛНОСТЬЮ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Презентация .pptx — с навигацией, готова к показу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Финмодель .xlsx — с формулами и sensitivity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Аналитика — рынок, конкуренты, ЦА с источниками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Концепция и позиционирование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Decision Log — обоснование каждой развилки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46120"/>
            <a:ext cx="5532120" cy="16916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166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ЧТО ОСТАЁТСЯ ЗА ЧЕЛОВЕКОМ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51663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Финальное go/no-go решение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Защита перед инвестором / советом — живая коммуникация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Операционное внедрение стратегии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•  Договорённости с конкретными партнёрами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" y="50749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439" y="5166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CE07"/>
                </a:solidFill>
                <a:latin typeface="YS Display"/>
                <a:ea typeface="YS Display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439" y="5422392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S Display"/>
                <a:ea typeface="YS Display"/>
              </a:rPr>
              <a:t>Куратор смысла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439" y="5715000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BBBBB"/>
                </a:solidFill>
                <a:latin typeface="YS Text"/>
                <a:ea typeface="YS Text"/>
              </a:rPr>
              <a:t>Менеджер-агент решает, что класть на слайды. Это ответ на 85% failure rate автономных агентов (Devin).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1207" y="50749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5799" y="5166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CE07"/>
                </a:solidFill>
                <a:latin typeface="YS Display"/>
                <a:ea typeface="YS Display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5799" y="5422392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S Display"/>
                <a:ea typeface="YS Display"/>
              </a:rPr>
              <a:t>Физические артефакты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5799" y="5715000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BBBBB"/>
                </a:solidFill>
                <a:latin typeface="YS Text"/>
                <a:ea typeface="YS Text"/>
              </a:rPr>
              <a:t>.xlsx с формулами, .pptx готов к показу, .md Decision Log — а не текст в чате.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1567" y="50749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6159" y="5166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CE07"/>
                </a:solidFill>
                <a:latin typeface="YS Display"/>
                <a:ea typeface="YS Display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6159" y="5422392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S Display"/>
                <a:ea typeface="YS Display"/>
              </a:rPr>
              <a:t>Дотренировка на 2 кейс-чемпионатах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6159" y="5715000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BBBBB"/>
                </a:solidFill>
                <a:latin typeface="YS Text"/>
                <a:ea typeface="YS Text"/>
              </a:rPr>
              <a:t>Решения для Axenix (Cup Moscow 2024) и Askona (Inno Case Hack 2025) → 26 методологических логик в </a:t>
            </a:r>
            <a:r>
              <a:rPr sz="9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открытом репозитории</a:t>
            </a:r>
            <a:r>
              <a:rPr sz="900" b="0" i="0">
                <a:solidFill>
                  <a:srgbClr val="BBBBBB"/>
                </a:solidFill>
                <a:latin typeface="YS Text"/>
                <a:ea typeface="YS Text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1927" y="5074920"/>
            <a:ext cx="2788920" cy="128016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6519" y="51663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BCE07"/>
                </a:solidFill>
                <a:latin typeface="YS Display"/>
                <a:ea typeface="Y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6519" y="5422392"/>
            <a:ext cx="2459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YS Display"/>
                <a:ea typeface="YS Display"/>
              </a:rPr>
              <a:t>Иерархия источников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6519" y="5715000"/>
            <a:ext cx="2459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BBBBBB"/>
                </a:solidFill>
                <a:latin typeface="YS Text"/>
                <a:ea typeface="YS Text"/>
              </a:rPr>
              <a:t>Эталон → бизнес-классика (Osterwalder, MoSCoW, AS-IS/TO-BE) → эвристика. Каждое правило ссылается на источник.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A9A9A"/>
                </a:solidFill>
                <a:latin typeface="YS Text"/>
                <a:ea typeface="YS Text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5 Claude-агентов с дисциплиной коммуникации через файлы, обученных на решениях для Axenix и Askona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Архитектура устроена так, что специалисты не пишут друг другу — всё проходит через менеджера. Это снимает риск рассинхрона между маркетингом, финансами и аналитикой.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32807" y="283464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807" y="292608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00000"/>
                </a:solidFill>
                <a:latin typeface="YS Display"/>
                <a:ea typeface="YS Display"/>
              </a:rPr>
              <a:t>case-manager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324612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YS Text"/>
                <a:ea typeface="YS Text"/>
              </a:rPr>
              <a:t>куратор смысла · PM-оркестратор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55367" y="393192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55367" y="40416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case-analyst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5367" y="43616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research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7127" y="393192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07127" y="40416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case-financier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7127" y="43616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финмодель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58887" y="393192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8887" y="40416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case-marketer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8887" y="43616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AJTBD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32807" y="502920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32807" y="512064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BCE07"/>
                </a:solidFill>
                <a:latin typeface="YS Display"/>
                <a:ea typeface="YS Display"/>
              </a:rPr>
              <a:t>case-designer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2807" y="544068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YS Text"/>
                <a:ea typeface="YS Text"/>
              </a:rPr>
              <a:t>конвертер YAML → .pptx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444087.5" y="3611880"/>
            <a:ext cx="2651760.0" cy="32004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44087.5" y="4709160"/>
            <a:ext cx="2651760.0" cy="32004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847.5" y="3611880"/>
            <a:ext cx="0.0" cy="32004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5847.5" y="4709160"/>
            <a:ext cx="0.0" cy="32004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95847.5" y="3611880"/>
            <a:ext cx="2651760.0" cy="320040"/>
          </a:xfrm>
          <a:prstGeom prst="line">
            <a:avLst/>
          </a:prstGeom>
          <a:ln w="1270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6095847.5" y="4709160"/>
            <a:ext cx="2651760.0" cy="32004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Дотренировка — на решениях для Axenix (Cup Moscow 2024) и Askona (Inno Case Hack 2025) с кейс-чемпионатов. Извлечено 26 методологических логик — материалы в </a:t>
            </a:r>
            <a:r>
              <a:rPr sz="11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открытом репозитории github.com/Suprrllys/case-team</a:t>
            </a: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Для пользователя Claude — без дополнительной оплаты; внутри команды 1 кейс стоит 11 тыс ₽ при 99 тыс ₽ in-house и 396 тыс ₽ через агентство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Категориальный сдвиг — стратегический пакет встроен в стоимость подписки на нейросеть, которая уже оплачена клиентом для других задач.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34640"/>
            <a:ext cx="4754880" cy="1920240"/>
          </a:xfrm>
          <a:prstGeom prst="roundRect">
            <a:avLst>
              <a:gd name="adj" fmla="val 8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718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Display"/>
                <a:ea typeface="YS Display"/>
              </a:rPr>
              <a:t>ДЛЯ ПОЛЬЗОВАТЕЛЯ 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000000"/>
                </a:solidFill>
                <a:latin typeface="YS Display"/>
                <a:ea typeface="YS Display"/>
              </a:rPr>
              <a:t>0 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YS Text"/>
                <a:ea typeface="YS Text"/>
              </a:rPr>
              <a:t>дополнительного расхода — подписка уже оплачена для других задач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937760"/>
            <a:ext cx="4754880" cy="10058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4748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ВРЕМЯ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21808"/>
            <a:ext cx="4297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000000"/>
                </a:solidFill>
                <a:latin typeface="YS Display"/>
                <a:ea typeface="YS Display"/>
              </a:rPr>
              <a:t>4 часа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44068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вместо 5-6 дней команды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834640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66666"/>
                </a:solidFill>
                <a:latin typeface="YS Display"/>
                <a:ea typeface="YS Display"/>
              </a:rPr>
              <a:t>СТОИМОСТЬ 1 КЕЙСА (ВНУТРЕННЯЯ ЭКОНОМИКА, ₽)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291840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Агенты (менеджер + tokens)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319272"/>
            <a:ext cx="93381" cy="356616"/>
          </a:xfrm>
          <a:prstGeom prst="roundRect">
            <a:avLst>
              <a:gd name="adj" fmla="val 10000"/>
            </a:avLst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2981" y="333756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10 930 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087368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In-house команда из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114800"/>
            <a:ext cx="845820" cy="356616"/>
          </a:xfrm>
          <a:prstGeom prst="roundRect">
            <a:avLst>
              <a:gd name="adj" fmla="val 10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5420" y="413308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99 000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882896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Big4-tier агентство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910328"/>
            <a:ext cx="3383280" cy="356616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612880" y="4928616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396 000 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532120"/>
            <a:ext cx="6126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66666"/>
                </a:solidFill>
                <a:latin typeface="YS Display"/>
                <a:ea typeface="YS Display"/>
              </a:rPr>
              <a:t>SENSITIVITY ±20% — экономия vs in-house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77840" y="5897880"/>
            <a:ext cx="1394460" cy="68580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5952744"/>
            <a:ext cx="13944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C853"/>
                </a:solidFill>
                <a:latin typeface="YS Display"/>
                <a:ea typeface="YS Display"/>
              </a:rPr>
              <a:t>89%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6281928"/>
            <a:ext cx="13944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Базовый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5180" y="5897880"/>
            <a:ext cx="1394460" cy="68580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5180" y="5952744"/>
            <a:ext cx="13944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C853"/>
                </a:solidFill>
                <a:latin typeface="YS Display"/>
                <a:ea typeface="YS Display"/>
              </a:rPr>
              <a:t>84%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5180" y="6281928"/>
            <a:ext cx="13944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Junior in-house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5897880"/>
            <a:ext cx="1394460" cy="68580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32520" y="5952744"/>
            <a:ext cx="13944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C853"/>
                </a:solidFill>
                <a:latin typeface="YS Display"/>
                <a:ea typeface="YS Display"/>
              </a:rPr>
              <a:t>97-98%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6281928"/>
            <a:ext cx="13944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Big4 sourcing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9860" y="5897880"/>
            <a:ext cx="1394460" cy="685800"/>
          </a:xfrm>
          <a:prstGeom prst="roundRect">
            <a:avLst>
              <a:gd name="adj" fmla="val 10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9860" y="5952744"/>
            <a:ext cx="13944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0C853"/>
                </a:solidFill>
                <a:latin typeface="YS Display"/>
                <a:ea typeface="YS Display"/>
              </a:rPr>
              <a:t>88%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09860" y="6281928"/>
            <a:ext cx="13944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+20% токенов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Что меняется относительно существующих способов и что снижает порог входа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Главный страх клиента — не «дорого», а «обнаружится фейк под вопросами стейкхолдера». Поэтому каждая цифра защищена источником.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ЧТО МЕНЯЕТСЯ ОТНОСИТЕЛЬНО СУЩЕСТВУЮЩИХ СПОСОБОВ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461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1927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Делать самому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319272"/>
            <a:ext cx="3566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4 часа реального времени; качество в 5 ролях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319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0507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In-house команда из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005072"/>
            <a:ext cx="3566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Не нужен 1-2-месячный найм; пакет за стоимость подписки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177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9087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Big4 (350k-1.5M ₽)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4690872"/>
            <a:ext cx="3566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4 часа вместо недель; прозрачная методология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3035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7667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Фрилансеры с биржи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376672"/>
            <a:ext cx="3566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Куратор смысла внутри → единая методология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89320"/>
            <a:ext cx="5577840" cy="640080"/>
          </a:xfrm>
          <a:prstGeom prst="roundRect">
            <a:avLst>
              <a:gd name="adj" fmla="val 4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6247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ChatGPT / один AI-чат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6062472"/>
            <a:ext cx="35661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.xlsx и .pptx с формулами, не текст; источник на каждую цифру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834640"/>
            <a:ext cx="5577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НИЗКИЙ ПОРОГ ВХОДА (4 БАРЬЕРА СНЯТЫ)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246120"/>
            <a:ext cx="5577840" cy="804672"/>
          </a:xfrm>
          <a:prstGeom prst="roundRect">
            <a:avLst>
              <a:gd name="adj" fmla="val 4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337560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Технический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337560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1 команда /case-team; 0 шагов настройки multi-agent pipeline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096512"/>
            <a:ext cx="5577840" cy="804672"/>
          </a:xfrm>
          <a:prstGeom prst="roundRect">
            <a:avLst>
              <a:gd name="adj" fmla="val 4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187952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Доверия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87952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Дотренировка на 2 реальных кейс-чемпионатах; 100% цифр с URL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4946904"/>
            <a:ext cx="5577840" cy="804672"/>
          </a:xfrm>
          <a:prstGeom prst="roundRect">
            <a:avLst>
              <a:gd name="adj" fmla="val 4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038344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Формата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038344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5 файлов на выходе: .xlsx, .pptx, SOLUTION.md, MANAGER-LOG.md, research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5797296"/>
            <a:ext cx="5577840" cy="804672"/>
          </a:xfrm>
          <a:prstGeom prst="roundRect">
            <a:avLst>
              <a:gd name="adj" fmla="val 4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888736"/>
            <a:ext cx="1920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Обучаемости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888736"/>
            <a:ext cx="35661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0 команд изучения промпт-инжиниринга; задача — естественным языком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Резюме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9421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9421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Анализ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5922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5922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Концепция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2423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2423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Реализация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8924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8924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66666"/>
                </a:solidFill>
                <a:latin typeface="YS Text"/>
                <a:ea typeface="YS Text"/>
              </a:rPr>
              <a:t>Эффект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85425" y="274320"/>
            <a:ext cx="1803349" cy="329184"/>
          </a:xfrm>
          <a:prstGeom prst="roundRect">
            <a:avLst>
              <a:gd name="adj" fmla="val 50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85425" y="274320"/>
            <a:ext cx="180334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0000"/>
                </a:solidFill>
                <a:latin typeface="YS Text"/>
                <a:ea typeface="YS Text"/>
              </a:rPr>
              <a:t>Команда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A1A1A"/>
                </a:solidFill>
                <a:latin typeface="YS Display"/>
                <a:ea typeface="YS Display"/>
              </a:rPr>
              <a:t>Один продуктовый менеджер + команда из 5 ИИ-агентов = эффективная единица решения бизнес-кейсов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920240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66666"/>
                </a:solidFill>
                <a:latin typeface="YS Text"/>
                <a:ea typeface="YS Text"/>
              </a:rPr>
              <a:t>Эта заявка собрана этой же командой /case-team за день до дедлайна — мета-доказательство тезиса.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42032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017520"/>
            <a:ext cx="2743200" cy="2743200"/>
          </a:xfrm>
          <a:prstGeom prst="ellipse">
            <a:avLst/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204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000000"/>
                </a:solidFill>
                <a:latin typeface="YS Display"/>
                <a:ea typeface="YS Display"/>
              </a:rPr>
              <a:t>СЛ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521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(фото в финальной версии)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834640"/>
            <a:ext cx="7680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1A1A"/>
                </a:solidFill>
                <a:latin typeface="YS Display"/>
                <a:ea typeface="YS Display"/>
              </a:rPr>
              <a:t>Сергей Леонтьев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4747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66666"/>
                </a:solidFill>
                <a:latin typeface="YS Text"/>
                <a:ea typeface="YS Text"/>
              </a:rPr>
              <a:t>Менеджер по продукту  ·  ООО «Нинтегра»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88620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МАИ 2025, «Прикладная информатика»  ·  Методология: AJTBD + ИИ-агенты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38912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52628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ДОСТИЖЕНИЯ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4828032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YS Text"/>
                <a:ea typeface="YS Text"/>
              </a:rPr>
              <a:t>Победитель, призёр и участник 10+ кейс-чемпионатов по бизнес-анализу, стратегическому консалтингу, продуктовому управлению и маркетингу.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760720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8795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КОНТАКТЫ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85216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suprrllysmanagement@mail.ru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616305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+7 (985) 176-06-58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852160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CCCCC"/>
                </a:solidFill>
                <a:latin typeface="YS Text"/>
                <a:ea typeface="YS Text"/>
              </a:rPr>
              <a:t>GitHub: </a:t>
            </a:r>
            <a:r>
              <a:rPr sz="11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github.com/Suprrllys/case-team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16305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CCCCC"/>
                </a:solidFill>
                <a:latin typeface="YS Text"/>
                <a:ea typeface="YS Text"/>
              </a:rPr>
              <a:t>Видео-демо /case-team (5 мин): по запросу жюри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594360" cy="164592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Display"/>
                <a:ea typeface="YS Display"/>
              </a:rPr>
              <a:t>ФИНАЛ  ·  ТЕЗИС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74519"/>
            <a:ext cx="11247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YS Display"/>
                <a:ea typeface="YS Display"/>
              </a:rPr>
              <a:t>Полный пакет под защиту — в 8× быстрее, в стоимости подписки на нейросеть.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FBCE07"/>
                </a:solidFill>
                <a:latin typeface="YS Text"/>
                <a:ea typeface="YS Text"/>
              </a:rPr>
              <a:t>Готовим полный пакет материалов решения бизнес-кейса под защиту в 8× быстрее и без дополнительной оплаты для пользователей Claude — за счёт мультиагентной AI-команды в Claude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532120"/>
            <a:ext cx="91440" cy="59436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YS Text"/>
                <a:ea typeface="YS Text"/>
              </a:rPr>
              <a:t>Альтернатива стратегическому консалтингу через мультиагентную AI-команду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CCCCCC"/>
                </a:solidFill>
                <a:latin typeface="YS Text"/>
                <a:ea typeface="YS Text"/>
              </a:rPr>
              <a:t>Сергей Леонтьев  ·  Product Manager  ·  Practicum Award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A0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Источники (1–24 из 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Все источники, использованные при формировании решения — публичные URL, каждый кликабельный.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TAdviser «Консалтинг (рынок России)»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общий объём 140 млрд ₽ в 2024 (+15% YoY)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3"/>
              </a:rPr>
              <a:t>RAEX-RR рэнкинг стратегического консалтинга 2025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стратегический сегмент 14.8 млрд ₽ (+39%)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4"/>
              </a:rPr>
              <a:t>RAEX-RR крупнейшие консалт-группы 2025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Q1 2025 = 9.7 млрд ₽ (+9%)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5"/>
              </a:rPr>
              <a:t>РБК Тренды «Тренды 2025 на рынке консалтинга»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управленческий 37 млрд ₽ (+19%)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6"/>
              </a:rPr>
              <a:t>HSE Daily «Рынок управленческого консалтинга в 2023»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7"/>
              </a:rPr>
              <a:t>Fless.pro «Большая тройка в России после 2022»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8"/>
              </a:rPr>
              <a:t>TAdviser «Яков и Партнёры»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9"/>
              </a:rPr>
              <a:t>KSK Group услуги стратегического консалтинга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350-550 тыс ₽ — нижний сегмент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498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0"/>
              </a:rPr>
              <a:t>Profi.ru стратегический консалтинг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1"/>
              </a:rPr>
              <a:t>Ведомости 25.12.2025 «Число субъектов МСП»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6.835 млн МСП в янв 2026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2"/>
              </a:rPr>
              <a:t>Единый реестр МСП ФНС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официальные данные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3"/>
              </a:rPr>
              <a:t>Корпорация МСП «Численность обновила исторический максимум»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4"/>
              </a:rPr>
              <a:t>Гарант «Количество малых и средних выросло»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5"/>
              </a:rPr>
              <a:t>dreamjob.ru «Старший консультант»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middle 150-280k ₽/мес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6"/>
              </a:rPr>
              <a:t>Fless.pro «Зарплаты в Большой Тройке»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Associate 350-450k, Manager 500k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7"/>
              </a:rPr>
              <a:t>vc.ru «Стратегический консалтинг»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8"/>
              </a:rPr>
              <a:t>Gorodrabot.ru «Зарплата консультанта в Москве»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9"/>
              </a:rPr>
              <a:t>Lidopad «Фрилансеры в России 2025»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средний доход 44k ₽/мес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0"/>
              </a:rPr>
              <a:t>Gartner «40% enterprise apps with AI agents by 2026»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1"/>
              </a:rPr>
              <a:t>McKinsey MGI «$4.4 trillion AI value»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2"/>
              </a:rPr>
              <a:t>McKinsey «State of AI» ноябрь 2025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3"/>
              </a:rPr>
              <a:t>McKinsey «Economic potential of generative AI»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4"/>
              </a:rPr>
              <a:t>Markets&amp;Markets «AI Agents Market 2025-2030»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5"/>
              </a:rPr>
              <a:t>Paul Okhrem «Enterprise AI Agents Statistics 2026»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$7.6→$10.8 млрд + 40% projects cancelled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A0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Источники (25–48 из 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Все источники, использованные при формировании решения — публичные URL, каждый кликабельный.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Joget «AI Agent Adoption 2026»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3"/>
              </a:rPr>
              <a:t>a16z «How 100 Enterprise CIOs Build Gen AI 2025»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4"/>
              </a:rPr>
              <a:t>a16z «Where Enterprises Adopt AI»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5"/>
              </a:rPr>
              <a:t>Felloai «Manus AI Pricing 2026»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$0/$19/$39/$199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6"/>
              </a:rPr>
              <a:t>RioTimes «Manus AI 14 Failures»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7"/>
              </a:rPr>
              <a:t>Trickle «Manus AI Review»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Reddit credit-burn $2380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8"/>
              </a:rPr>
              <a:t>Trustpilot Manus AI reviews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9"/>
              </a:rPr>
              <a:t>Lindy.ai Pricing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Free / $19.99 / $49.99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498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0"/>
              </a:rPr>
              <a:t>CloudTalk «Lindy AI Pricing 2026»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onboarding $1500 hidden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1"/>
              </a:rPr>
              <a:t>CrewAI Pricing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2"/>
              </a:rPr>
              <a:t>ZenML «CrewAI Pricing Guide»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Enterprise $60-120k/год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3"/>
              </a:rPr>
              <a:t>Microsoft Research «Magentic-One»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4"/>
              </a:rPr>
              <a:t>WinBuzzer «AutoGen 0.4 + Magentic-One»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5"/>
              </a:rPr>
              <a:t>Devin Pricing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Core $20 / Team $500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39.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6"/>
              </a:rPr>
              <a:t>VentureBeat «Devin 2.0 Slashes Price»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7"/>
              </a:rPr>
              <a:t>OpenAIToolsHub «Devin AI Review: 13.86% SWE-Bench»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8"/>
              </a:rPr>
              <a:t>SitePoint «Devin Aftermath»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9"/>
              </a:rPr>
              <a:t>GigaChat Enterprise на Хабре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запуск март 2026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0"/>
              </a:rPr>
              <a:t>vc.ru «Сбер GigaChat Enterprise»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1"/>
              </a:rPr>
              <a:t>GigaChat Business — Multi-Agent System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2"/>
              </a:rPr>
              <a:t>Yandex AI Studio главная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3"/>
              </a:rPr>
              <a:t>Яндекс «AI Studio большое обновление»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4"/>
              </a:rPr>
              <a:t>Habr «Яндекс открыл рассуждающие ИИ-агенты»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5"/>
              </a:rPr>
              <a:t>Just AI Agent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A0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Источники (49–71 из 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Все источники, использованные при формировании решения — публичные URL, каждый кликабельный.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49.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Just AI «Сравнение российских AI-платформ 2026»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3"/>
              </a:rPr>
              <a:t>Claude for PowerPoint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4"/>
              </a:rPr>
              <a:t>Prezent.ai «Claude for PowerPoint»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5"/>
              </a:rPr>
              <a:t>MindStudio «Gamma vs ChatGPT vs Claude vs Google»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6"/>
              </a:rPr>
              <a:t>SlideSpeak «Create Presentations with Claude Design 2026»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7"/>
              </a:rPr>
              <a:t>Klarna Press «AI assistant 2/3 customer service»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8"/>
              </a:rPr>
              <a:t>OpenAI «Klarna AI does work of 700 agents»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9"/>
              </a:rPr>
              <a:t>CX Dive «Klarna AI slashing costs»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2498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0"/>
              </a:rPr>
              <a:t>Twig «Klarna AI Cut Resolution Time 82%»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1"/>
              </a:rPr>
              <a:t>GitHub Blog «Quantifying GitHub Copilot Impact»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+55% speed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59.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2"/>
              </a:rPr>
              <a:t>arXiv «AI on Developer Productivity: Copilot»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P=0.0017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3"/>
              </a:rPr>
              <a:t>Anthropic «How AI Is Transforming Work at Anthropic»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4"/>
              </a:rPr>
              <a:t>Anthropic «Estimating productivity gains»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~80-81% task speedup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62.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5"/>
              </a:rPr>
              <a:t>HUB International «Anthropic Claude to 20 000+»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63.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6"/>
              </a:rPr>
              <a:t>Anthropic Pricing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Opus 4.7 $5/$25 на 1M токенов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64.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7"/>
              </a:rPr>
              <a:t>Finout «Anthropic API Pricing 2026»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2606040"/>
            <a:ext cx="3606698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65.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8"/>
              </a:rPr>
              <a:t>ЦБ РФ официальный курс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USD/RUB 73.34 на 14 мая 2026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66.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19"/>
              </a:rPr>
              <a:t>Finance.mail.ru «Курс доллара на 14 мая 2026»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67.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0"/>
              </a:rPr>
              <a:t>Иван Замесин — публикации по AJTBD-консалтингу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Mot-Moment, extract-jobs-from-reviews, и др.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68.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1"/>
              </a:rPr>
              <a:t>Christensen «Competing Against Luck» (JTBD framework)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69.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2"/>
              </a:rPr>
              <a:t>Osterwalder «Value Proposition Design»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70.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3"/>
              </a:rPr>
              <a:t>Anthropic Claude Design — Claude.ai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71. </a:t>
            </a:r>
            <a:r>
              <a:rPr sz="900" b="0" i="0">
                <a:solidFill>
                  <a:srgbClr val="0B57D0"/>
                </a:solidFill>
                <a:latin typeface="YS Text"/>
                <a:ea typeface="YS Text"/>
                <a:hlinkClick r:id="rId24"/>
              </a:rPr>
              <a:t>Practicum Award 2026 — лендинг конкурса</a:t>
            </a:r>
            <a:r>
              <a:rPr sz="900" b="0" i="1">
                <a:solidFill>
                  <a:srgbClr val="666666"/>
                </a:solidFill>
                <a:latin typeface="YS Text"/>
                <a:ea typeface="YS Text"/>
              </a:rPr>
              <a:t>  — критерии оценки + жюри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A1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Сегмент клиента — фаундер МСП в стратегическом моменте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Founder/CEO Series A-B или Operations / Commercial Director МСП в РФ; штат 5-50; оборот 10-500 млн ₽/год; города-миллионники.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ИЕРАРХИЯ РАБОТ (AJTBD)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333756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00000"/>
                </a:solidFill>
                <a:latin typeface="YS Text"/>
                <a:ea typeface="YS Text"/>
              </a:rPr>
              <a:t>Big Job (верхний уровень):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Принять обоснованное стратегическое решение и провести его через стейкхолдеров.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YS Text"/>
                <a:ea typeface="YS Text"/>
              </a:rPr>
              <a:t>Core Job (выполняется /case-team):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Подготовить полный набор материалов под защиту.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000" b="1" i="0">
                <a:solidFill>
                  <a:srgbClr val="000000"/>
                </a:solidFill>
                <a:latin typeface="YS Text"/>
                <a:ea typeface="YS Text"/>
              </a:rPr>
              <a:t>Small Jobs (остаются за человеком):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go/no-go решение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защита лично перед стейкхолдерами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внедрить стратегию операционно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договориться с партнёрами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ТРИГГЕРЫ CORE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461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Питч инвестору в среду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2044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дедлайн: 7-14 дней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862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Совет директоров в пятницу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16052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дедлайн: 3-10 дней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526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Конкурент сделал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80060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дедлайн: 1-3 дня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16636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Go/no-go нового продукта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44068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дедлайн: 7-21 день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806440"/>
            <a:ext cx="3337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Частотность работы: 2-6 раз в год — </a:t>
            </a:r>
            <a:r>
              <a:rPr sz="1000" b="0" i="1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граф работ из отзывов клиентов на конкурентов</a:t>
            </a: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КРИТЕРИИ УСПЕХА CORE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200400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YS Text"/>
                <a:ea typeface="YS Text"/>
              </a:rPr>
              <a:t>Скорость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3814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4 часа vs 5-6 дней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767328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YS Text"/>
                <a:ea typeface="YS Text"/>
              </a:rPr>
              <a:t>Прослеживаемость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0050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100% цифр с URL-источником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334256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YS Text"/>
                <a:ea typeface="YS Text"/>
              </a:rPr>
              <a:t>Защищаемость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5720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1 цифра = 1 источник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901184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YS Text"/>
                <a:ea typeface="YS Text"/>
              </a:rPr>
              <a:t>Воспроизводимость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13892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5 файлов на выходе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681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YS Text"/>
                <a:ea typeface="YS Text"/>
              </a:rPr>
              <a:t>Порог входа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70585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1 команда, 0 настройки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ГЛАВНЫЙ СТРАХ КЛИЕНТА — не «дорого», а «обнаружится фейк под вопросами стейкхолдера». /case-team функционально замещает «защиту через репутацию» через прозрачность методологии.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A2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Конкуренты в multi-agent — матрица позиционирования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9 проанализированных конкурентов по 3 слоям. Мы занимаем пустую клетку в матрице — готовый продукт под стратегический класс задач для одного человека без IT-ресурса.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ПРЯМЫЕ (multi-agent для бизнес-задач)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Manus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autonomous generalist; мы = команда ролей с куратором смысла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Lindy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операционная рутина; мы = стратегические задачи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548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CrewAI / AutoGen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конструкторы для разработчиков; мы = готовый продукт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РОССИЙСКИЕ (operational, не strategic)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GigaChat Enterprise (Сбер)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для крупных корпов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Yandex AI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2519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конструктор для разработчиков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Just AI Agent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0292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Jay Knowledge Hub + Jay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КОСВЕННЫЕ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2004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Cognition Devin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47472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single-role SWE; 85% failure rate без супервизии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ChatGPT / Claude.ai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5196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главный когнитивный конкурент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7548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Big4 + «Яков и партнёры»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2920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нанимаются за защиту от позора, не за работу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5321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YS Display"/>
                <a:ea typeface="YS Display"/>
              </a:rPr>
              <a:t>Фрилансеры с биржи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8064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никто не сшивает в питч-док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Полная матрица 8 критериев × 9 конкурентов — в </a:t>
            </a:r>
            <a:r>
              <a:rPr sz="1000" b="0" i="1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открытом репозитории</a:t>
            </a: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A3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Технологический стек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Каждый компонент стека — обоснованный выбор под класс задачи «полный пакет под защиту за 4 часа».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МОДЕЛЬ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Claude Opus 4.7 (1M context) — длинный контекст для многошаговых кейсов; state-of-art reasoning.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38144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АРХИТЕКТУРА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12464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Claude Code subagents — изолированные роли с собственными промптами, инструментами, папками.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78808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ИНТЕГРАЦИИ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8"/>
            <a:ext cx="5318607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MCP-серверы (Notion, Google Drive)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Web search / fetch — доступ к внешним источникам без копирования вручную.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30368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04688"/>
            <a:ext cx="5318607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Локальные эталоны (Cup Moscow + Inno)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Универсальные инструкции (финмодель, презентация)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Каталог 18 типов слайдов + каталог исследовательских фреймворков.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МЕТОДОЛОГИИ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2971800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AJTBD-промпты Замесина (market-trends, competitor-research, differentiation-strategy, extract-jobs-from-reviews) интегрированы в case-marketer и case-analyst.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3438144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ДИЗАЙН-КАЧЕСТВО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712464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Скилл claude-design + 14 фазовых процедур (ai-slop, accessibility, hierarchy-rhythm, polish).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4178808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СБОРКА 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4453128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python-pptx + pre-flight overflow check + macOS PowerPoint blessing — воспроизводимая программная сборка.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A4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Детальная финмодель и 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Реальные эмпирические данные из решений для Axenix и Askona; ставки и стоимость API — на дату 14 мая 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ЭМПИРИЧЕСКИЕ ДАННЫЕ (BASELINE)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Cup Moscow 2024 (Axenix)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5 × 140 чел.-часов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862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Inno Case Hack 2025 (Askona)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5 × 40 чел.-часов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Средний кейс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0000"/>
                </a:solidFill>
                <a:latin typeface="YS Display"/>
                <a:ea typeface="YS Display"/>
              </a:rPr>
              <a:t>~90 чел.-часов команды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69748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СТАВКИ КОМАНДЫ (MIDDLE, ₽/Ч)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2004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Display"/>
                <a:ea typeface="YS Display"/>
              </a:rPr>
              <a:t>1 190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2044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Аналитик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52044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Display"/>
                <a:ea typeface="YS Display"/>
              </a:rPr>
              <a:t>1 070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4048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Финансист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84048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Display"/>
                <a:ea typeface="YS Display"/>
              </a:rPr>
              <a:t>1 190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16052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Маркетолог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160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Display"/>
                <a:ea typeface="YS Display"/>
              </a:rPr>
              <a:t>1 010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8056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Дизайнер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48056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Display"/>
                <a:ea typeface="YS Display"/>
              </a:rPr>
              <a:t>950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800600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YS Text"/>
                <a:ea typeface="YS Text"/>
              </a:rPr>
              <a:t>Средневзвешенная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8006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0C853"/>
                </a:solidFill>
                <a:latin typeface="YS Display"/>
                <a:ea typeface="YS Display"/>
              </a:rPr>
              <a:t>1 100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697480"/>
            <a:ext cx="3703320" cy="32918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СТОИМОСТЬ 1 КЕЙСА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320040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BBBBB"/>
                </a:solidFill>
                <a:latin typeface="YS Text"/>
                <a:ea typeface="YS Text"/>
              </a:rPr>
              <a:t>С агентами (внутр.)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4747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0C853"/>
                </a:solidFill>
                <a:latin typeface="YS Display"/>
                <a:ea typeface="YS Display"/>
              </a:rPr>
              <a:t>10 930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39776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BBBBB"/>
                </a:solidFill>
                <a:latin typeface="YS Text"/>
                <a:ea typeface="YS Text"/>
              </a:rPr>
              <a:t>In-house из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2519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YS Display"/>
                <a:ea typeface="YS Display"/>
              </a:rPr>
              <a:t>99 000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47548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BBBBB"/>
                </a:solidFill>
                <a:latin typeface="YS Text"/>
                <a:ea typeface="YS Text"/>
              </a:rPr>
              <a:t>Big4-tier (×4)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02920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C8C8"/>
                </a:solidFill>
                <a:latin typeface="YS Display"/>
                <a:ea typeface="YS Display"/>
              </a:rPr>
              <a:t>396 000 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53212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FBCE07"/>
                </a:solidFill>
                <a:latin typeface="YS Text"/>
                <a:ea typeface="YS Text"/>
              </a:rPr>
              <a:t>Для клиента (D10 подача А): $0 — Claude подписка уже оплачена.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17220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00000"/>
                </a:solidFill>
                <a:latin typeface="YS Text"/>
                <a:ea typeface="YS Text"/>
              </a:rPr>
              <a:t>SENSITIVITY ±20% — устойчиво 84-98% vs in-house. Источники — A0. </a:t>
            </a:r>
            <a:r>
              <a:rPr sz="11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Полная финмодель</a:t>
            </a:r>
            <a:r>
              <a:rPr sz="1100" b="0" i="0">
                <a:solidFill>
                  <a:srgbClr val="000000"/>
                </a:solidFill>
                <a:latin typeface="YS Text"/>
                <a:ea typeface="YS Text"/>
              </a:rPr>
              <a:t> в открытом репозитории.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A5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Каскад целей маркетинга (4 уровня)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От бизнес-цели до измеримых метрик восприятия жюри — адаптация Reach / Frequency / SOV под формат конкурса.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УРОВЕНЬ 1 — БИЗНЕС-ЦЕЛЬ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318607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Выход в финалисты Practicum Award + борьба за приз номинации (500k ₽ + грант Yandex AI Studio) или спецприз «Будущее за ним» (150k ₽).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38144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УРОВЕНЬ 2 — МАРКЕТИНГОВЫЕ ЦЕЛИ (ВОСПРИЯТИЕ ЖЮРИ)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12464"/>
            <a:ext cx="5318607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M1: запоминание как «новый класс инструмента», не «ещё одна multi-agent»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M2: вера в цифры экономии (84-98%) без «слишком красиво»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M3: восприятие как методологически зрелой заявки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M4: ассоциация с продуктовой и методологической культурой РФ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M5: мета-демо — уникальный аргумент, не маркетинговый трюк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УРОВЕНЬ 3 — КОММУНИКАЦИОННЫЕ ЦЕЛИ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71800"/>
            <a:ext cx="5318607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C1 (Slide 2): «всё решение за 30 секунд через 3 цифры»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C2 (Slide 3): «5 текущих способов — дороги, медленны или без артефактов»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C3 (Slide 4): «5 ролей с куратором смысла, физические артефакты, эталоны»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C4 (Slide 6): «категориальный сдвиг — в стоимости подписки на нейросеть»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C5 (Slide 7): «главный страх клиента — не дорого, а фейк под вопросами»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4681728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УРОВЕНЬ 4 — МЕТРИКИ УСПЕХА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956048"/>
            <a:ext cx="5318607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ME1: все 8 членов жюри Техно-номинации читают заявку целиком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ME2: one-liner «в стоимости подписки» повторяется на 5 слайдах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ME3: попадание в топ-10 финалистов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ME4: brand-lift — упоминание категории в обратной связи жюри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A6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Дорожная карта — Now / Next /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Текущая зрелость, ближайшие итерации и долгосрочная траектория продукта /case-team.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YS Display"/>
                <a:ea typeface="YS Display"/>
              </a:rPr>
              <a:t>NOW · готово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5 агентов с явными ролями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2 эталона дотренировки (Cup Moscow + Inno) → 26 логик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2 режима handoff (premium HTML / regular .pptx)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Скилл /case-team — одна команда установки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Реальная подача в Practicum Award собрана этой командой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9748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YS Display"/>
                <a:ea typeface="YS Display"/>
              </a:rPr>
              <a:t>NEXT · 1-3 мес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Публикация агентов и skill целиком в </a:t>
            </a:r>
            <a:r>
              <a:rPr sz="1100" b="0" i="0" u="sng">
                <a:solidFill>
                  <a:srgbClr val="0B57D0"/>
                </a:solidFill>
                <a:latin typeface="YS Text"/>
                <a:ea typeface="YS Text"/>
                <a:hlinkClick r:id="rId2"/>
              </a:rPr>
              <a:t>github.com/Suprrllys/case-team</a:t>
            </a: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 (сейчас опубликованы материалы заявки)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Расширение эталонной базы (антикризис, M&amp;A, креативный бренд)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3-5 pilot-запусков с B2B-клиентами в обмен на кейс-стади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703320" cy="370332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88036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00000"/>
                </a:solidFill>
                <a:latin typeface="YS Display"/>
                <a:ea typeface="YS Display"/>
              </a:rPr>
              <a:t>LATER · 3-12 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2461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Полноценный B2B-go-to-market (стартапы + малый бизнес + L&amp;D)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Edu-канал через бизнес-школы и кейс-чемпионаты</a:t>
            </a:r>
          </a:p>
          <a:p>
            <a:pPr algn="l">
              <a:lnSpc>
                <a:spcPct val="135000"/>
              </a:lnSpc>
              <a:spcBef>
                <a:spcPts val="500"/>
              </a:spcBef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•  Возможная PRO-надстройка на базе Anthropic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A7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Методологические источники (иерархия)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Каждое правило агента в /case-team имеет явную ссылку на свой уровень источника. Это снижает галлюцинации в стратегических цифрах.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1. ЭТАЛОНЫ КОМАНДЫ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5318607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Cup Moscow 2024 (Axenix, авиахаб Звартноц) — стратегический B2G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Inno Case Hack 2025 (Askona, A-Sleep) — стартап-маркетинговый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Извлечено 26 методологических логик из этих решений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59936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2A. БИЗНЕС-КЛАССИКА — JTBD-БЛОК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34256"/>
            <a:ext cx="5318607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AJTBD / JTBD (Christensen, Moesta) — сегментация по работам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Mot-Moment Persona — JTBD-консалтинг (Замесин)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AJTBD-промпты Замесина в case-marketer и case-analyst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Value Proposition Canvas (Osterwalder)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007" y="2697480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2B. БИЗНЕС-КЛАССИКА — ПРИОРИТИЗАЦИЯ И ПРОЦЕССЫ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2971800"/>
            <a:ext cx="5318607" cy="1289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MoSCoW / RICE / Weighted Scoring — приоритизация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AS-IS / TO-BE — Lean / Six Sigma process improvement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Theory of Change — impact-инвестирование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Big4-tier consulting structure (presale + методология)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4370832"/>
            <a:ext cx="54557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000000"/>
                </a:solidFill>
                <a:latin typeface="YS Display"/>
                <a:ea typeface="YS Display"/>
              </a:rPr>
              <a:t>3. ЭВРИСТИКИ АВТОРА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645152"/>
            <a:ext cx="5318607" cy="978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Бюджет слайда (1 тезис + 3-7 буллетов + 1 визуал)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Правило 50:50 текст/визуал на контентных слайдах</a:t>
            </a:r>
          </a:p>
          <a:p>
            <a:pPr algn="l">
              <a:lnSpc>
                <a:spcPct val="130000"/>
              </a:lnSpc>
              <a:spcBef>
                <a:spcPts val="200"/>
              </a:spcBef>
            </a:pPr>
            <a:r>
              <a:rPr sz="1000" b="0" i="0">
                <a:solidFill>
                  <a:srgbClr val="1A1A1A"/>
                </a:solidFill>
                <a:latin typeface="YS Text"/>
                <a:ea typeface="YS Text"/>
              </a:rPr>
              <a:t>•  Pre-flight overflow check для python-pptx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A8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4 параллельных проверки качества дизайна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Перед сдачей презентации case-designer запускает 4 параллельных под-скилла из claude-design — каждый ловит свой класс багов.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91440" cy="141732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YS Display"/>
                <a:ea typeface="YS Display"/>
              </a:rPr>
              <a:t>AI-slop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JetBrains Mono"/>
                <a:ea typeface="JetBrains Mono"/>
              </a:rPr>
              <a:t>ai-slop-check.md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Шаблонные формулировки, generic-фразы, эмодзи как декор, градиенты везде.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697480"/>
            <a:ext cx="91440" cy="141732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YS Display"/>
                <a:ea typeface="YS Display"/>
              </a:rP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546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JetBrains Mono"/>
                <a:ea typeface="JetBrains Mono"/>
              </a:rPr>
              <a:t>accessibility-audit.md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4728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Контраст 4.5:1, читаемость заголовков, цвет как единственный носитель смысла.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297680"/>
            <a:ext cx="91440" cy="1417320"/>
          </a:xfrm>
          <a:prstGeom prst="rect">
            <a:avLst/>
          </a:prstGeom>
          <a:solidFill>
            <a:srgbClr val="6F4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YS Display"/>
                <a:ea typeface="YS Display"/>
              </a:rPr>
              <a:t>Hierarchy / Rhythm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JetBrains Mono"/>
                <a:ea typeface="JetBrains Mono"/>
              </a:rPr>
              <a:t>hierarchy-rhythm-review.md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04748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Один visual anchor per slide, ≤7±2 блоков, нет полотен текста.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97680"/>
            <a:ext cx="5577840" cy="141732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97680"/>
            <a:ext cx="91440" cy="1417320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4348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00000"/>
                </a:solidFill>
                <a:latin typeface="YS Display"/>
                <a:ea typeface="YS Display"/>
              </a:rPr>
              <a:t>Polish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JetBrains Mono"/>
                <a:ea typeface="JetBrains Mono"/>
              </a:rPr>
              <a:t>polish-pass.md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4748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A1A"/>
                </a:solidFill>
                <a:latin typeface="YS Text"/>
                <a:ea typeface="YS Text"/>
              </a:rPr>
              <a:t>Финальный гейт перед сдачей.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43600"/>
            <a:ext cx="11185855" cy="5486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6016752"/>
            <a:ext cx="108200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ДОПОЛНИТЕЛЬНО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61996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YS Text"/>
                <a:ea typeface="YS Text"/>
              </a:rPr>
              <a:t>Pre-flight overflow check (font × lines × spacing / 72 ≤ container_h)  ·  macOS PowerPoint blessing (открыть → Восстановить → Save As)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74320"/>
            <a:ext cx="3291840" cy="32918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3291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BCE07"/>
                </a:solidFill>
                <a:latin typeface="YS Text"/>
                <a:ea typeface="YS Text"/>
              </a:rPr>
              <a:t>Приложение A9 из A9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3975" y="27432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YS Text"/>
                <a:ea typeface="YS Text"/>
              </a:rPr>
              <a:t>Q&amp;A · опционально по запросу жюри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77240"/>
            <a:ext cx="111858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1A1A1A"/>
                </a:solidFill>
                <a:latin typeface="YS Display"/>
                <a:ea typeface="YS Display"/>
              </a:rPr>
              <a:t>Бизнес-модель (открытая)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66666"/>
                </a:solidFill>
                <a:latin typeface="YS Text"/>
                <a:ea typeface="YS Text"/>
              </a:rPr>
              <a:t>/case-team — open-source skill для Claude Code. Категориальный сдвиг — это не SaaS-стартап и не «free pilot до цены», а реально бесплатный инструмент для пользователей Claude.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548640" cy="2540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ЧТО ЕСТЬ /case-team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33756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•  Open-source skill для Claude Code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•  Устанавливается одной командой в свою Claude-среду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•  Стоимость для пользователя — $0 дополнительно, если есть Claude подписка ($20-100/мес уже оплачена)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0000"/>
                </a:solidFill>
                <a:latin typeface="YS Display"/>
                <a:ea typeface="YS Display"/>
              </a:rPr>
              <a:t>ЭТО НЕ: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200400"/>
            <a:ext cx="333756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✕  SaaS-стартап (нет отдельной подписки на продукт)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✕  «Free pilot до взлёта цены» — реально бесплатный инструмент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1A1A1A"/>
                </a:solidFill>
                <a:latin typeface="YS Text"/>
                <a:ea typeface="YS Text"/>
              </a:rPr>
              <a:t>✕  Закрытая корпоративная разработка — open-source 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34640"/>
            <a:ext cx="3337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BCE07"/>
                </a:solidFill>
                <a:latin typeface="YS Display"/>
                <a:ea typeface="YS Display"/>
              </a:rPr>
              <a:t>МОНЕТИЗАЦИЯ АВТОРА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200400"/>
            <a:ext cx="333756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•  Узнаваемость в продуктовом сообществе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•  Возможные консультации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200" b="0" i="0">
                <a:solidFill>
                  <a:srgbClr val="FFFFFF"/>
                </a:solidFill>
                <a:latin typeface="YS Text"/>
                <a:ea typeface="YS Text"/>
              </a:rPr>
              <a:t>•  Карьерные возможности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66666"/>
                </a:solidFill>
                <a:latin typeface="YS Text"/>
                <a:ea typeface="YS Text"/>
              </a:rPr>
              <a:t>В БУДУЩЕМ: после интеграции Claude Design в десктоп-приложение Anthropic — premium-режим (HTML) тоже автоматизируется, не потребует ручной загрузки YAML в браузер.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Practicum Award 2026 · Сергей Леонтьев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66666"/>
                </a:solidFill>
                <a:latin typeface="YS Text"/>
                <a:ea typeface="YS Text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